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E5B266-05AE-48A9-935B-09B5BCA40390}">
  <a:tblStyle styleId="{DBE5B266-05AE-48A9-935B-09B5BCA403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7162c1a47_0_3:notes"/>
          <p:cNvSpPr/>
          <p:nvPr>
            <p:ph idx="2" type="sldImg"/>
          </p:nvPr>
        </p:nvSpPr>
        <p:spPr>
          <a:xfrm>
            <a:off x="685873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7162c1a47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e7162c1a47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7162c1a47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g3e7162c1a47_0_86:notes"/>
          <p:cNvSpPr/>
          <p:nvPr>
            <p:ph idx="2" type="sldImg"/>
          </p:nvPr>
        </p:nvSpPr>
        <p:spPr>
          <a:xfrm>
            <a:off x="685873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685782" y="2130425"/>
            <a:ext cx="77721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371563" y="3886200"/>
            <a:ext cx="64005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3470" y="0"/>
            <a:ext cx="123061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870102" y="710200"/>
            <a:ext cx="43641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</a:rPr>
              <a:t>Trilha de Dados e IA</a:t>
            </a:r>
            <a:endParaRPr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C31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3840480" y="731520"/>
            <a:ext cx="109728" cy="1005840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297680" y="1234440"/>
            <a:ext cx="7223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Operações básicas com DataFrames em Pandas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343400" y="2743200"/>
            <a:ext cx="6949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Uma visão estruturada das operações mais importantes para explorar, transformar e resumir dados tabulares.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94360" y="1371600"/>
            <a:ext cx="2651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DCE2E9"/>
                </a:solidFill>
                <a:latin typeface="Arial"/>
                <a:ea typeface="Arial"/>
                <a:cs typeface="Arial"/>
                <a:sym typeface="Arial"/>
              </a:rPr>
              <a:t>operações básicas com DataFrames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94360" y="5669280"/>
            <a:ext cx="1920240" cy="411480"/>
          </a:xfrm>
          <a:prstGeom prst="roundRect">
            <a:avLst>
              <a:gd fmla="val 16667" name="adj"/>
            </a:avLst>
          </a:prstGeom>
          <a:solidFill>
            <a:srgbClr val="2F466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Apresentação de aula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VISÃO GERAL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Objetivo da apresentação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85800" y="1691640"/>
            <a:ext cx="10698480" cy="420624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540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Entender o que é um DataFrame e por que ele é útil na análise de dados.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Aprender operações fundamentais para explorar, filtrar, resumir e transformar tabelas no pandas.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Conectar essas operações ao universo das planilhas, especialmente o Excel.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Usar uma base fictícia de vendas de carros como contexto comum para os exemplos.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CONCEITOS FUNDAMENTAIS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O que é um DataFrame?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85800" y="1691640"/>
            <a:ext cx="10698480" cy="420624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54000" spcFirstLastPara="1" rIns="91425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É uma estrutura de dados tabular com linhas, colunas e nomes de variáveis.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Pode ser entendido como uma planilha manipulada por código.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Cada coluna normalmente representa uma variável.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Cada linha normalmente representa um registro da base.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CONCEITOS FUNDAMENTAIS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Base de exemplo: vendas de carros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685800" y="1691640"/>
            <a:ext cx="10698480" cy="420624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54000" spcFirstLastPara="1" rIns="91425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Vamos imaginar um banco de dados com registros de vendas de veículos.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As colunas incluem informações como modelo, ano, preço, potência, combustível e quilometragem.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Essa base é suficiente para exemplificar operações de inspeção, seleção, agrupamento e limpeza.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Ao longo dos slides, as operações aparecerão sempre nesse mesmo contexto.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CONCEITOS FUNDAMENTAIS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Exemplo de colunas da base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Algumas variáveis possíveis do DataFrame: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marca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modelo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ano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preco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potencia_cv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combustivel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cambio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quilometragem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categoria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cor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numero_donos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estado_conservacao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vendido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cidade_venda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A base mistura variáveis numéricas, categóricas e booleanas.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PRIMEIROS PASSOS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Criando um DataFrame</a:t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Uma forma comum de iniciar é construir a tabela a partir de um dicionário Python.</a:t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 = pd.DataFrame(dados_carros)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As chaves do dicionário se tornam nomes de colunas.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As listas associadas a cada chave se tornam os valores das colunas.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Todas as listas precisam ter o mesmo comprimento.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PRIMEIROS PASSOS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Visualizando as primeiras e últimas linhas</a:t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Antes de analisar a base, vale olhar rapidamente para ela.</a:t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df_carros.head()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df_carros.tail()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head() mostra as primeiras linhas da tabela.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tail() mostra as últimas linhas.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Esses dois comandos ajudam a validar se os dados parecem corretos.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PRIMEIROS PASSOS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Verificando as dimensões da base</a:t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shape informa o tamanho do DataFrame.</a:t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df_carros.shape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(20, 15)</a:t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O primeiro número representa a quantidade de linhas.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O segundo número representa a quantidade de colunas.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No exemplo: 20 registros e 15 variáveis.</a:t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PRIMEIROS PASSOS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Visualizando nomes de colunas e índices</a:t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Também é importante identificar que variáveis existem e como as linhas estão indexadas.</a:t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df_carros.columns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df_carros.index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columns lista os nomes das colunas.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index mostra os rótulos das linhas.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Essas consultas ajudam na navegação e na escrita dos comandos seguintes.</a:t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INSPEÇÃO INICIAL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Resumo estrutural com info()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info() fornece um panorama geral da tabela.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df_carros.info()</a:t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Quantidade de linhas.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Nomes das colunas.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Quantidade de valores não nulos em cada coluna.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Tipos de dados e consumo de memória.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INSPEÇÃO INICIAL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Estatísticas descritivas com describe()</a:t>
            </a: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Para variáveis numéricas, describe() resume várias medidas ao mesmo tempo.</a:t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df_carros.describe()</a:t>
            </a:r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Média, desvio padrão, mínimo, máximo e quartis.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Ajuda a ter uma primeira noção da distribuição dos dados.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É especialmente útil para preço, potência, ano e quilometragem.</a:t>
            </a:r>
            <a:endParaRPr/>
          </a:p>
        </p:txBody>
      </p:sp>
      <p:sp>
        <p:nvSpPr>
          <p:cNvPr id="222" name="Google Shape;222;p24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SELEÇÃO E FILTRO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Selecionando uma coluna</a:t>
            </a: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Uma coluna pode ser acessada diretamente pelo nome.</a:t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df_carros["preco"]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df_carros["modelo"]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df_carros["combustivel"]</a:t>
            </a:r>
            <a:endParaRPr/>
          </a:p>
        </p:txBody>
      </p:sp>
      <p:sp>
        <p:nvSpPr>
          <p:cNvPr id="234" name="Google Shape;234;p25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O resultado dessa seleção é uma Series.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Essa é uma operação básica para explorar ou transformar uma variável específica.</a:t>
            </a:r>
            <a:endParaRPr/>
          </a:p>
        </p:txBody>
      </p:sp>
      <p:sp>
        <p:nvSpPr>
          <p:cNvPr id="235" name="Google Shape;235;p25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SELEÇÃO E FILTRO</a:t>
            </a:r>
            <a:endParaRPr/>
          </a:p>
        </p:txBody>
      </p:sp>
      <p:sp>
        <p:nvSpPr>
          <p:cNvPr id="243" name="Google Shape;243;p26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Selecionando várias colunas</a:t>
            </a:r>
            <a:endParaRPr/>
          </a:p>
        </p:txBody>
      </p:sp>
      <p:sp>
        <p:nvSpPr>
          <p:cNvPr id="244" name="Google Shape;244;p26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Quando for necessário manter mais de uma variável, use uma lista de nomes.</a:t>
            </a:r>
            <a:endParaRPr/>
          </a:p>
        </p:txBody>
      </p:sp>
      <p:sp>
        <p:nvSpPr>
          <p:cNvPr id="246" name="Google Shape;246;p26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df_carros[["modelo", "ano", "preco"]]</a:t>
            </a:r>
            <a:endParaRPr/>
          </a:p>
        </p:txBody>
      </p:sp>
      <p:sp>
        <p:nvSpPr>
          <p:cNvPr id="247" name="Google Shape;247;p26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Nesse caso, o resultado continua sendo um DataFrame.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Isso permite construir visões mais enxutas da tabela original.</a:t>
            </a:r>
            <a:endParaRPr/>
          </a:p>
        </p:txBody>
      </p:sp>
      <p:sp>
        <p:nvSpPr>
          <p:cNvPr id="248" name="Google Shape;248;p26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SELEÇÃO E FILTRO</a:t>
            </a:r>
            <a:endParaRPr/>
          </a:p>
        </p:txBody>
      </p:sp>
      <p:sp>
        <p:nvSpPr>
          <p:cNvPr id="256" name="Google Shape;256;p27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Filtrando linhas com uma condição</a:t>
            </a:r>
            <a:endParaRPr/>
          </a:p>
        </p:txBody>
      </p:sp>
      <p:sp>
        <p:nvSpPr>
          <p:cNvPr id="257" name="Google Shape;257;p27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Filtros permitem trabalhar com subconjuntos da base.</a:t>
            </a:r>
            <a:endParaRPr/>
          </a:p>
        </p:txBody>
      </p:sp>
      <p:sp>
        <p:nvSpPr>
          <p:cNvPr id="259" name="Google Shape;259;p27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df_carros[df_carros["preco"] &gt; 100000]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df_carros[df_carros["combustivel"] == "diesel"]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df_carros[df_carros["ano"] &gt;= 2022]</a:t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Cada condição seleciona apenas as linhas que a satisfazem.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Esse tipo de operação é central em análise de dados.</a:t>
            </a:r>
            <a:endParaRPr/>
          </a:p>
        </p:txBody>
      </p:sp>
      <p:sp>
        <p:nvSpPr>
          <p:cNvPr id="261" name="Google Shape;261;p27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SELEÇÃO E FILTRO</a:t>
            </a:r>
            <a:endParaRPr/>
          </a:p>
        </p:txBody>
      </p:sp>
      <p:sp>
        <p:nvSpPr>
          <p:cNvPr id="269" name="Google Shape;269;p28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Filtros com múltiplas condições</a:t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Critérios podem ser combinados com operadores lógicos.</a:t>
            </a:r>
            <a:endParaRPr/>
          </a:p>
        </p:txBody>
      </p:sp>
      <p:sp>
        <p:nvSpPr>
          <p:cNvPr id="272" name="Google Shape;272;p28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(df_carros["preco"] &gt; 100000) &amp;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(df_carros["combustivel"] == "flex")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(df_carros["combustivel"] == "diesel")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(df_carros["combustivel"] == "gasolina")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/>
          </a:p>
        </p:txBody>
      </p:sp>
      <p:sp>
        <p:nvSpPr>
          <p:cNvPr id="273" name="Google Shape;273;p28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&amp; significa “e”.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| significa “ou”.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Cada condição precisa ficar entre parênteses.</a:t>
            </a:r>
            <a:endParaRPr/>
          </a:p>
        </p:txBody>
      </p:sp>
      <p:sp>
        <p:nvSpPr>
          <p:cNvPr id="274" name="Google Shape;274;p28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SELEÇÃO E FILTRO</a:t>
            </a:r>
            <a:endParaRPr/>
          </a:p>
        </p:txBody>
      </p:sp>
      <p:sp>
        <p:nvSpPr>
          <p:cNvPr id="282" name="Google Shape;282;p29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Ordenando dados</a:t>
            </a:r>
            <a:endParaRPr/>
          </a:p>
        </p:txBody>
      </p:sp>
      <p:sp>
        <p:nvSpPr>
          <p:cNvPr id="283" name="Google Shape;283;p29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sort_values() organiza as linhas com base em uma coluna.</a:t>
            </a:r>
            <a:endParaRPr/>
          </a:p>
        </p:txBody>
      </p:sp>
      <p:sp>
        <p:nvSpPr>
          <p:cNvPr id="285" name="Google Shape;285;p29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df_carros.sort_values("preco")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df_carros.sort_values("preco", ascending=False)</a:t>
            </a:r>
            <a:endParaRPr/>
          </a:p>
        </p:txBody>
      </p:sp>
      <p:sp>
        <p:nvSpPr>
          <p:cNvPr id="286" name="Google Shape;286;p29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Por padrão, a ordenação é crescente.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Com ascending=False, a ordenação se torna decrescente.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Isso ajuda a encontrar os carros mais caros, mais baratos ou mais novos.</a:t>
            </a: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9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TRANSFORMAÇÕES</a:t>
            </a:r>
            <a:endParaRPr/>
          </a:p>
        </p:txBody>
      </p:sp>
      <p:sp>
        <p:nvSpPr>
          <p:cNvPr id="295" name="Google Shape;295;p30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Criando novas colunas</a:t>
            </a:r>
            <a:endParaRPr/>
          </a:p>
        </p:txBody>
      </p:sp>
      <p:sp>
        <p:nvSpPr>
          <p:cNvPr id="296" name="Google Shape;296;p30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Uma das vantagens do pandas é gerar variáveis derivadas com facilidade.</a:t>
            </a:r>
            <a:endParaRPr/>
          </a:p>
        </p:txBody>
      </p:sp>
      <p:sp>
        <p:nvSpPr>
          <p:cNvPr id="298" name="Google Shape;298;p30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df_carros["preco_por_cv"] = df_carros["preco"] / df_carros["potencia_cv"]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df_carros["idade_carro"] = 2026 - df_carros["ano"]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df_carros["km_por_ano"] = df_carros["quilometragem"] / df_carros["idade_carro"]</a:t>
            </a:r>
            <a:endParaRPr/>
          </a:p>
        </p:txBody>
      </p:sp>
      <p:sp>
        <p:nvSpPr>
          <p:cNvPr id="299" name="Google Shape;299;p30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Novas colunas podem ser criadas por operações entre colunas existentes.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Isso amplia as possibilidades de análise da base.</a:t>
            </a:r>
            <a:endParaRPr/>
          </a:p>
        </p:txBody>
      </p:sp>
      <p:sp>
        <p:nvSpPr>
          <p:cNvPr id="300" name="Google Shape;300;p30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1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TRANSFORMAÇÕES</a:t>
            </a:r>
            <a:endParaRPr/>
          </a:p>
        </p:txBody>
      </p:sp>
      <p:sp>
        <p:nvSpPr>
          <p:cNvPr id="308" name="Google Shape;308;p31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Classificando dados com np.where</a:t>
            </a:r>
            <a:endParaRPr/>
          </a:p>
        </p:txBody>
      </p:sp>
      <p:sp>
        <p:nvSpPr>
          <p:cNvPr id="309" name="Google Shape;309;p31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1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Também é possível transformar condições em categorias.</a:t>
            </a:r>
            <a:endParaRPr/>
          </a:p>
        </p:txBody>
      </p:sp>
      <p:sp>
        <p:nvSpPr>
          <p:cNvPr id="311" name="Google Shape;311;p31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df_carros["faixa_preco"] = np.where(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df_carros["preco"] &gt; 100000,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"caro",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"barato"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sp>
        <p:nvSpPr>
          <p:cNvPr id="312" name="Google Shape;312;p31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Esse padrão cria variáveis categóricas com base em regras.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Depois elas podem ser contadas, filtradas ou agrupadas.</a:t>
            </a:r>
            <a:endParaRPr/>
          </a:p>
        </p:txBody>
      </p:sp>
      <p:sp>
        <p:nvSpPr>
          <p:cNvPr id="313" name="Google Shape;313;p31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2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RESUMOS E AGRUPAMENTOS</a:t>
            </a:r>
            <a:endParaRPr/>
          </a:p>
        </p:txBody>
      </p:sp>
      <p:sp>
        <p:nvSpPr>
          <p:cNvPr id="321" name="Google Shape;321;p32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Contando valores por categoria</a:t>
            </a:r>
            <a:endParaRPr/>
          </a:p>
        </p:txBody>
      </p:sp>
      <p:sp>
        <p:nvSpPr>
          <p:cNvPr id="322" name="Google Shape;322;p32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2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Para resumir variáveis categóricas, value_counts() é muito útil.</a:t>
            </a:r>
            <a:endParaRPr/>
          </a:p>
        </p:txBody>
      </p:sp>
      <p:sp>
        <p:nvSpPr>
          <p:cNvPr id="324" name="Google Shape;324;p32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df_carros["combustivel"].value_counts()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df_carros["categoria"].value_counts()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df_carros["cidade_venda"].value_counts()</a:t>
            </a:r>
            <a:endParaRPr/>
          </a:p>
        </p:txBody>
      </p:sp>
      <p:sp>
        <p:nvSpPr>
          <p:cNvPr id="325" name="Google Shape;325;p32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O comando informa quantas vezes cada categoria aparece.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A intuição é parecida com uma contagem simples em tabela dinâmica.</a:t>
            </a:r>
            <a:endParaRPr/>
          </a:p>
        </p:txBody>
      </p:sp>
      <p:sp>
        <p:nvSpPr>
          <p:cNvPr id="326" name="Google Shape;326;p32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2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RESUMOS E AGRUPAMENTOS</a:t>
            </a:r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O que é groupby?</a:t>
            </a:r>
            <a:endParaRPr/>
          </a:p>
        </p:txBody>
      </p:sp>
      <p:sp>
        <p:nvSpPr>
          <p:cNvPr id="335" name="Google Shape;335;p33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3"/>
          <p:cNvSpPr/>
          <p:nvPr/>
        </p:nvSpPr>
        <p:spPr>
          <a:xfrm>
            <a:off x="685800" y="1691640"/>
            <a:ext cx="10698480" cy="420624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54000" spcFirstLastPara="1" rIns="91425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62B32"/>
                </a:solidFill>
              </a:rPr>
              <a:t>“</a:t>
            </a: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groupby</a:t>
            </a:r>
            <a:r>
              <a:rPr lang="en-US" sz="2000">
                <a:solidFill>
                  <a:srgbClr val="262B32"/>
                </a:solidFill>
              </a:rPr>
              <a:t>”</a:t>
            </a: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 agrupa linhas que compartilham algum valor em comum.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Depois do agrupamento, é possível aplicar uma operação em cada grupo.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As operações mais comuns são média, soma, contagem, mínimo e máximo.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A lógica geral pode ser resumida como: separar → resumir → comparar.</a:t>
            </a:r>
            <a:endParaRPr/>
          </a:p>
        </p:txBody>
      </p:sp>
      <p:sp>
        <p:nvSpPr>
          <p:cNvPr id="337" name="Google Shape;337;p33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3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4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RESUMOS E AGRUPAMENTOS</a:t>
            </a:r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Exemplo básico de groupby</a:t>
            </a:r>
            <a:endParaRPr/>
          </a:p>
        </p:txBody>
      </p:sp>
      <p:sp>
        <p:nvSpPr>
          <p:cNvPr id="346" name="Google Shape;346;p34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4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Leitura do comando: agrupe por combustível, selecione a coluna de preço e calcule a média.</a:t>
            </a:r>
            <a:endParaRPr/>
          </a:p>
        </p:txBody>
      </p:sp>
      <p:sp>
        <p:nvSpPr>
          <p:cNvPr id="348" name="Google Shape;348;p34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df_carros.groupby("combustivel")["preco"].mean()</a:t>
            </a:r>
            <a:endParaRPr/>
          </a:p>
        </p:txBody>
      </p:sp>
      <p:sp>
        <p:nvSpPr>
          <p:cNvPr id="349" name="Google Shape;349;p34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Pergunta respondida: qual é o preço médio dos carros em cada tipo de combustível?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O resultado é um resumo por grupo.</a:t>
            </a:r>
            <a:endParaRPr/>
          </a:p>
        </p:txBody>
      </p:sp>
      <p:sp>
        <p:nvSpPr>
          <p:cNvPr id="350" name="Google Shape;350;p34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4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RESUMOS E AGRUPAMENTOS</a:t>
            </a:r>
            <a:endParaRPr/>
          </a:p>
        </p:txBody>
      </p:sp>
      <p:sp>
        <p:nvSpPr>
          <p:cNvPr id="358" name="Google Shape;358;p35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Outros exemplos de groupby</a:t>
            </a:r>
            <a:endParaRPr/>
          </a:p>
        </p:txBody>
      </p:sp>
      <p:sp>
        <p:nvSpPr>
          <p:cNvPr id="359" name="Google Shape;359;p35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5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O mesmo padrão permite responder diferentes perguntas.</a:t>
            </a:r>
            <a:endParaRPr/>
          </a:p>
        </p:txBody>
      </p:sp>
      <p:sp>
        <p:nvSpPr>
          <p:cNvPr id="361" name="Google Shape;361;p35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df_carros.groupby("categoria")["preco"].mean()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df_carros.groupby("marca")["potencia_cv"].mean()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df_carros.groupby("combustivel")["quilometragem"].mean()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df_carros.groupby("cidade_venda")["preco"].sum()</a:t>
            </a:r>
            <a:endParaRPr/>
          </a:p>
        </p:txBody>
      </p:sp>
      <p:sp>
        <p:nvSpPr>
          <p:cNvPr id="362" name="Google Shape;362;p35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Preço médio por categoria.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Potência média por marca.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Quilometragem média por combustível.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Volume total de vendas por cidade.</a:t>
            </a:r>
            <a:endParaRPr/>
          </a:p>
        </p:txBody>
      </p:sp>
      <p:sp>
        <p:nvSpPr>
          <p:cNvPr id="363" name="Google Shape;363;p35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5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RESUMOS E AGRUPAMENTOS</a:t>
            </a:r>
            <a:endParaRPr/>
          </a:p>
        </p:txBody>
      </p:sp>
      <p:sp>
        <p:nvSpPr>
          <p:cNvPr id="371" name="Google Shape;371;p36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Várias estatísticas com agg()</a:t>
            </a:r>
            <a:endParaRPr/>
          </a:p>
        </p:txBody>
      </p:sp>
      <p:sp>
        <p:nvSpPr>
          <p:cNvPr id="372" name="Google Shape;372;p36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6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agg() permite calcular várias métricas de uma vez.</a:t>
            </a:r>
            <a:endParaRPr/>
          </a:p>
        </p:txBody>
      </p:sp>
      <p:sp>
        <p:nvSpPr>
          <p:cNvPr id="374" name="Google Shape;374;p36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df_carros.groupby("combustivel")["preco"].agg(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["mean", "min", "max", "count"]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sp>
        <p:nvSpPr>
          <p:cNvPr id="375" name="Google Shape;375;p36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mean: média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min: menor valor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max: maior valor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count: quantidade de registros</a:t>
            </a:r>
            <a:endParaRPr/>
          </a:p>
        </p:txBody>
      </p:sp>
      <p:sp>
        <p:nvSpPr>
          <p:cNvPr id="376" name="Google Shape;376;p36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6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7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RESUMOS E AGRUPAMENTOS</a:t>
            </a:r>
            <a:endParaRPr/>
          </a:p>
        </p:txBody>
      </p:sp>
      <p:sp>
        <p:nvSpPr>
          <p:cNvPr id="384" name="Google Shape;384;p37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Agrupando por mais de uma coluna</a:t>
            </a:r>
            <a:endParaRPr/>
          </a:p>
        </p:txBody>
      </p:sp>
      <p:sp>
        <p:nvSpPr>
          <p:cNvPr id="385" name="Google Shape;385;p37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7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Os grupos também podem ser formados por combinações de variáveis.</a:t>
            </a:r>
            <a:endParaRPr/>
          </a:p>
        </p:txBody>
      </p:sp>
      <p:sp>
        <p:nvSpPr>
          <p:cNvPr id="387" name="Google Shape;387;p37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df_carros.groupby(["combustivel", "cambio"])["preco"].mean()</a:t>
            </a:r>
            <a:endParaRPr/>
          </a:p>
        </p:txBody>
      </p:sp>
      <p:sp>
        <p:nvSpPr>
          <p:cNvPr id="388" name="Google Shape;388;p37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Agora cada grupo é definido pela combinação combustível + câmbio.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Isso permite análises mais detalhadas do que um agrupamento simples.</a:t>
            </a:r>
            <a:endParaRPr/>
          </a:p>
        </p:txBody>
      </p:sp>
      <p:sp>
        <p:nvSpPr>
          <p:cNvPr id="389" name="Google Shape;389;p37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8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RESUMOS E AGRUPAMENTOS</a:t>
            </a:r>
            <a:endParaRPr/>
          </a:p>
        </p:txBody>
      </p:sp>
      <p:sp>
        <p:nvSpPr>
          <p:cNvPr id="397" name="Google Shape;397;p38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Voltando a um DataFrame com reset_index()</a:t>
            </a:r>
            <a:endParaRPr/>
          </a:p>
        </p:txBody>
      </p:sp>
      <p:sp>
        <p:nvSpPr>
          <p:cNvPr id="398" name="Google Shape;398;p38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8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Após o agrupamento, às vezes convém transformar o resultado em uma tabela comum.</a:t>
            </a:r>
            <a:endParaRPr/>
          </a:p>
        </p:txBody>
      </p:sp>
      <p:sp>
        <p:nvSpPr>
          <p:cNvPr id="400" name="Google Shape;400;p38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resultado =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df_carros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.groupby("combustivel")["preco"]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.mean()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.reset_index()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sp>
        <p:nvSpPr>
          <p:cNvPr id="401" name="Google Shape;401;p38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reset_index() devolve uma estrutura mais fácil de visualizar.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Também facilita exportação, gráficos e etapas seguintes da análise.</a:t>
            </a:r>
            <a:endParaRPr/>
          </a:p>
        </p:txBody>
      </p:sp>
      <p:sp>
        <p:nvSpPr>
          <p:cNvPr id="402" name="Google Shape;402;p38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8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LIMPEZA DE DADOS</a:t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Tratando valores ausentes</a:t>
            </a:r>
            <a:endParaRPr/>
          </a:p>
        </p:txBody>
      </p:sp>
      <p:sp>
        <p:nvSpPr>
          <p:cNvPr id="411" name="Google Shape;411;p39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9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Bases reais frequentemente contêm valores faltantes.</a:t>
            </a:r>
            <a:endParaRPr/>
          </a:p>
        </p:txBody>
      </p:sp>
      <p:sp>
        <p:nvSpPr>
          <p:cNvPr id="413" name="Google Shape;413;p39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df_carros.isna().sum()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df_carros.dropna()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df_carros["preco"].fillna(df_carros["preco"].mean())</a:t>
            </a:r>
            <a:endParaRPr/>
          </a:p>
        </p:txBody>
      </p:sp>
      <p:sp>
        <p:nvSpPr>
          <p:cNvPr id="414" name="Google Shape;414;p39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isna().sum() conta quantos vazios existem em cada coluna.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dropna() remove linhas com dados faltantes.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fillna() preenche os vazios com um valor especificado.</a:t>
            </a:r>
            <a:endParaRPr/>
          </a:p>
        </p:txBody>
      </p:sp>
      <p:sp>
        <p:nvSpPr>
          <p:cNvPr id="415" name="Google Shape;415;p39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0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LIMPEZA DE DADOS</a:t>
            </a:r>
            <a:endParaRPr/>
          </a:p>
        </p:txBody>
      </p:sp>
      <p:sp>
        <p:nvSpPr>
          <p:cNvPr id="423" name="Google Shape;423;p40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Removendo duplicatas</a:t>
            </a:r>
            <a:endParaRPr/>
          </a:p>
        </p:txBody>
      </p:sp>
      <p:sp>
        <p:nvSpPr>
          <p:cNvPr id="424" name="Google Shape;424;p40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0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Outra tarefa importante é verificar se a base contém registros repetidos.</a:t>
            </a:r>
            <a:endParaRPr/>
          </a:p>
        </p:txBody>
      </p:sp>
      <p:sp>
        <p:nvSpPr>
          <p:cNvPr id="426" name="Google Shape;426;p40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df_carros.duplicated().sum()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df_carros.drop_duplicates()</a:t>
            </a:r>
            <a:endParaRPr/>
          </a:p>
        </p:txBody>
      </p:sp>
      <p:sp>
        <p:nvSpPr>
          <p:cNvPr id="427" name="Google Shape;427;p40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duplicated().sum() conta quantas linhas estão duplicadas.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drop_duplicates() remove essas repetições.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Esse cuidado evita distorções em médias, totais e contagens.</a:t>
            </a:r>
            <a:endParaRPr/>
          </a:p>
        </p:txBody>
      </p:sp>
      <p:sp>
        <p:nvSpPr>
          <p:cNvPr id="428" name="Google Shape;428;p40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1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ENCERRAMENTO</a:t>
            </a:r>
            <a:endParaRPr/>
          </a:p>
        </p:txBody>
      </p:sp>
      <p:sp>
        <p:nvSpPr>
          <p:cNvPr id="436" name="Google Shape;436;p41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Renomeando colunas e exportando resultados</a:t>
            </a:r>
            <a:endParaRPr/>
          </a:p>
        </p:txBody>
      </p:sp>
      <p:sp>
        <p:nvSpPr>
          <p:cNvPr id="437" name="Google Shape;437;p41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1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Depois de organizar a base, é possível padronizar nomes e salvar os resultados.</a:t>
            </a:r>
            <a:endParaRPr/>
          </a:p>
        </p:txBody>
      </p:sp>
      <p:sp>
        <p:nvSpPr>
          <p:cNvPr id="439" name="Google Shape;439;p41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 = df_carros.rename(columns={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"preco": "preco_venda",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    "potencia_cv": "potencia"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df_carros.to_csv("carros.csv", index=False)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>
              <a:solidFill>
                <a:srgbClr val="262B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df_carros.to_excel("carros.xlsx", index=False)</a:t>
            </a:r>
            <a:endParaRPr/>
          </a:p>
        </p:txBody>
      </p:sp>
      <p:sp>
        <p:nvSpPr>
          <p:cNvPr id="440" name="Google Shape;440;p41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Renomear colunas melhora a clareza da base.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Exportar permite compartilhar ou reutilizar o conjunto de dados tratado.</a:t>
            </a:r>
            <a:endParaRPr/>
          </a:p>
        </p:txBody>
      </p:sp>
      <p:sp>
        <p:nvSpPr>
          <p:cNvPr id="441" name="Google Shape;441;p41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1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2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ENCERRAMENTO</a:t>
            </a:r>
            <a:endParaRPr/>
          </a:p>
        </p:txBody>
      </p:sp>
      <p:sp>
        <p:nvSpPr>
          <p:cNvPr id="449" name="Google Shape;449;p42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Exemplo de sequência básica de análise</a:t>
            </a:r>
            <a:endParaRPr/>
          </a:p>
        </p:txBody>
      </p:sp>
      <p:sp>
        <p:nvSpPr>
          <p:cNvPr id="450" name="Google Shape;450;p42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2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Uma exploração inicial da base pode seguir um roteiro simples.</a:t>
            </a:r>
            <a:endParaRPr/>
          </a:p>
        </p:txBody>
      </p:sp>
      <p:sp>
        <p:nvSpPr>
          <p:cNvPr id="452" name="Google Shape;452;p42"/>
          <p:cNvSpPr/>
          <p:nvPr/>
        </p:nvSpPr>
        <p:spPr>
          <a:xfrm>
            <a:off x="685800" y="1691640"/>
            <a:ext cx="5486400" cy="4343400"/>
          </a:xfrm>
          <a:prstGeom prst="roundRect">
            <a:avLst>
              <a:gd fmla="val 16667" name="adj"/>
            </a:avLst>
          </a:prstGeom>
          <a:solidFill>
            <a:srgbClr val="F7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df_carros.head()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df_carros.info()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df_carros.describe()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df_carros["combustivel"].value_counts()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df_carros.groupby("categoria")["preco"].mean()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>
                <a:solidFill>
                  <a:srgbClr val="262B32"/>
                </a:solidFill>
                <a:latin typeface="Courier New"/>
                <a:ea typeface="Courier New"/>
                <a:cs typeface="Courier New"/>
                <a:sym typeface="Courier New"/>
              </a:rPr>
              <a:t>df_carros.sort_values("preco", ascending=False)</a:t>
            </a:r>
            <a:endParaRPr/>
          </a:p>
        </p:txBody>
      </p:sp>
      <p:sp>
        <p:nvSpPr>
          <p:cNvPr id="453" name="Google Shape;453;p42"/>
          <p:cNvSpPr/>
          <p:nvPr/>
        </p:nvSpPr>
        <p:spPr>
          <a:xfrm>
            <a:off x="6400800" y="1691640"/>
            <a:ext cx="4983480" cy="43434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Essa sequência ajuda a compreender a estrutura da base e identificar padrões iniciais.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É um bom ponto de partida antes de perguntas mais específicas.</a:t>
            </a:r>
            <a:endParaRPr/>
          </a:p>
        </p:txBody>
      </p:sp>
      <p:sp>
        <p:nvSpPr>
          <p:cNvPr id="454" name="Google Shape;454;p42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2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3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ENCERRAMENTO</a:t>
            </a:r>
            <a:endParaRPr/>
          </a:p>
        </p:txBody>
      </p:sp>
      <p:sp>
        <p:nvSpPr>
          <p:cNvPr id="462" name="Google Shape;462;p43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Prática: perguntas para responder com pandas</a:t>
            </a:r>
            <a:endParaRPr/>
          </a:p>
        </p:txBody>
      </p:sp>
      <p:sp>
        <p:nvSpPr>
          <p:cNvPr id="463" name="Google Shape;463;p43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3"/>
          <p:cNvSpPr/>
          <p:nvPr/>
        </p:nvSpPr>
        <p:spPr>
          <a:xfrm>
            <a:off x="685800" y="1691640"/>
            <a:ext cx="10698480" cy="420624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54000" spcFirstLastPara="1" rIns="91425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62B32"/>
                </a:solidFill>
              </a:rPr>
              <a:t>Q</a:t>
            </a: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ual é o preço médio dos carros?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Quantos carros existem por tipo de combustível?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Qual é o carro mais caro? E qual é o mais potente?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Qual é a quilometragem média por categoria?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Qual cidade possui o maior número de vendas?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Qual é o preço médio por marca?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Quais carros automáticos custam mais de R$ 100.000?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Crie uma nova coluna chamada idade_carro.</a:t>
            </a:r>
            <a:endParaRPr/>
          </a:p>
        </p:txBody>
      </p:sp>
      <p:sp>
        <p:nvSpPr>
          <p:cNvPr id="465" name="Google Shape;465;p43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3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4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ENCERRAMENTO</a:t>
            </a:r>
            <a:endParaRPr/>
          </a:p>
        </p:txBody>
      </p:sp>
      <p:sp>
        <p:nvSpPr>
          <p:cNvPr id="473" name="Google Shape;473;p44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Pandas e Excel: uma ponte útil</a:t>
            </a:r>
            <a:endParaRPr/>
          </a:p>
        </p:txBody>
      </p:sp>
      <p:sp>
        <p:nvSpPr>
          <p:cNvPr id="474" name="Google Shape;474;p44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4"/>
          <p:cNvSpPr txBox="1"/>
          <p:nvPr/>
        </p:nvSpPr>
        <p:spPr>
          <a:xfrm>
            <a:off x="685800" y="1207008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Muitas operações que vocês já fazem manualmente em planilhas também aparecem no pandas.</a:t>
            </a:r>
            <a:endParaRPr/>
          </a:p>
        </p:txBody>
      </p:sp>
      <p:graphicFrame>
        <p:nvGraphicFramePr>
          <p:cNvPr id="476" name="Google Shape;476;p44"/>
          <p:cNvGraphicFramePr/>
          <p:nvPr/>
        </p:nvGraphicFramePr>
        <p:xfrm>
          <a:off x="777240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{DBE5B266-05AE-48A9-935B-09B5BCA40390}</a:tableStyleId>
              </a:tblPr>
              <a:tblGrid>
                <a:gridCol w="3657600"/>
                <a:gridCol w="6949450"/>
              </a:tblGrid>
              <a:tr h="53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Excel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pandas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C314C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Filtro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df[condição]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Ordenar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sort_values()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Tabela dinâmica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groupby()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Fórmula em coluna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criação de nova coluna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Remover duplicatas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drop_duplicates()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Preencher vazio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fillna()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Salvar arquivo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solidFill>
                            <a:srgbClr val="262B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to_csv() / to_excel()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477" name="Google Shape;477;p44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4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5"/>
          <p:cNvSpPr txBox="1"/>
          <p:nvPr/>
        </p:nvSpPr>
        <p:spPr>
          <a:xfrm>
            <a:off x="685800" y="320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05E84"/>
                </a:solidFill>
                <a:latin typeface="Arial"/>
                <a:ea typeface="Arial"/>
                <a:cs typeface="Arial"/>
                <a:sym typeface="Arial"/>
              </a:rPr>
              <a:t>ENCERRAMENTO</a:t>
            </a:r>
            <a:endParaRPr/>
          </a:p>
        </p:txBody>
      </p:sp>
      <p:sp>
        <p:nvSpPr>
          <p:cNvPr id="485" name="Google Shape;485;p45"/>
          <p:cNvSpPr txBox="1"/>
          <p:nvPr/>
        </p:nvSpPr>
        <p:spPr>
          <a:xfrm>
            <a:off x="685800" y="53035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C314C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/>
          </a:p>
        </p:txBody>
      </p:sp>
      <p:sp>
        <p:nvSpPr>
          <p:cNvPr id="486" name="Google Shape;486;p45"/>
          <p:cNvSpPr/>
          <p:nvPr/>
        </p:nvSpPr>
        <p:spPr>
          <a:xfrm>
            <a:off x="685800" y="1115568"/>
            <a:ext cx="914400" cy="36576"/>
          </a:xfrm>
          <a:prstGeom prst="rect">
            <a:avLst/>
          </a:prstGeom>
          <a:solidFill>
            <a:srgbClr val="405E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5"/>
          <p:cNvSpPr/>
          <p:nvPr/>
        </p:nvSpPr>
        <p:spPr>
          <a:xfrm>
            <a:off x="685800" y="1691640"/>
            <a:ext cx="10698480" cy="420624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7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54000" spcFirstLastPara="1" rIns="91425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Nesta apresentação, vocês viram como criar, explorar, filtrar, ordenar e transformar um DataFrame.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Também viram como resumir dados com value_counts(), groupby() e agg().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Essas operações formam a base da análise de dados com Python.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62B32"/>
                </a:solidFill>
                <a:latin typeface="Arial"/>
                <a:ea typeface="Arial"/>
                <a:cs typeface="Arial"/>
                <a:sym typeface="Arial"/>
              </a:rPr>
              <a:t>Quando esses fundamentos estão sólidos, fica muito mais fácil avançar para visualização, modelagem e automação.</a:t>
            </a:r>
            <a:endParaRPr/>
          </a:p>
        </p:txBody>
      </p:sp>
      <p:sp>
        <p:nvSpPr>
          <p:cNvPr id="488" name="Google Shape;488;p45"/>
          <p:cNvSpPr/>
          <p:nvPr/>
        </p:nvSpPr>
        <p:spPr>
          <a:xfrm>
            <a:off x="548640" y="6291072"/>
            <a:ext cx="11064240" cy="13716"/>
          </a:xfrm>
          <a:prstGeom prst="rect">
            <a:avLst/>
          </a:prstGeom>
          <a:solidFill>
            <a:srgbClr val="D7DD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5"/>
          <p:cNvSpPr txBox="1"/>
          <p:nvPr/>
        </p:nvSpPr>
        <p:spPr>
          <a:xfrm>
            <a:off x="10881360" y="63459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5C68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0E4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6"/>
          <p:cNvSpPr/>
          <p:nvPr/>
        </p:nvSpPr>
        <p:spPr>
          <a:xfrm>
            <a:off x="0" y="-928688"/>
            <a:ext cx="714300" cy="714300"/>
          </a:xfrm>
          <a:prstGeom prst="ellipse">
            <a:avLst/>
          </a:prstGeom>
          <a:solidFill>
            <a:srgbClr val="102A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/>
          <p:nvPr/>
        </p:nvSpPr>
        <p:spPr>
          <a:xfrm>
            <a:off x="861825" y="-928688"/>
            <a:ext cx="714300" cy="714300"/>
          </a:xfrm>
          <a:prstGeom prst="ellipse">
            <a:avLst/>
          </a:prstGeom>
          <a:solidFill>
            <a:srgbClr val="F9F0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6"/>
          <p:cNvSpPr/>
          <p:nvPr/>
        </p:nvSpPr>
        <p:spPr>
          <a:xfrm>
            <a:off x="1723650" y="-922120"/>
            <a:ext cx="714300" cy="714300"/>
          </a:xfrm>
          <a:prstGeom prst="ellipse">
            <a:avLst/>
          </a:prstGeom>
          <a:solidFill>
            <a:srgbClr val="FEB1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6"/>
          <p:cNvSpPr/>
          <p:nvPr/>
        </p:nvSpPr>
        <p:spPr>
          <a:xfrm>
            <a:off x="2585475" y="-928688"/>
            <a:ext cx="714300" cy="714300"/>
          </a:xfrm>
          <a:prstGeom prst="ellipse">
            <a:avLst/>
          </a:prstGeom>
          <a:solidFill>
            <a:srgbClr val="FE7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6"/>
          <p:cNvSpPr/>
          <p:nvPr/>
        </p:nvSpPr>
        <p:spPr>
          <a:xfrm>
            <a:off x="3447300" y="-928688"/>
            <a:ext cx="714300" cy="714300"/>
          </a:xfrm>
          <a:prstGeom prst="ellipse">
            <a:avLst/>
          </a:prstGeom>
          <a:solidFill>
            <a:srgbClr val="12F4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364" y="1060475"/>
            <a:ext cx="5752946" cy="565769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6"/>
          <p:cNvSpPr txBox="1"/>
          <p:nvPr/>
        </p:nvSpPr>
        <p:spPr>
          <a:xfrm>
            <a:off x="3839298" y="330700"/>
            <a:ext cx="4513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Avalie nosso enconotro!!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